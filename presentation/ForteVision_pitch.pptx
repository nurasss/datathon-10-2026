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ForteVision — локальный сервис для проверки видеозаписей кассы. Мы не заменяем контролёра: находим визуальные признаки возможного нарушения и связываем их с моментом на видео, кадрами и нормативным источником. Представляем работающий MVP, а не только концепцию.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 ручной проверке контролёру нужно просмотреть запись, найти событие, зафиксировать время и понять, какое правило применимо. Наш продукт собирает эту цепочку в одном интерфейсе. Бизнес-гипотеза — сократить поиск и подготовку материалов для проверки. Экономию времени пока не измеряли и не заявляем числом.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Пользователь загружает MOV через веб-интерфейс. Сервер создаёт задачу и показывает статус обработки. На выходе — один из двух вердиктов. Для каждого найденного события доступны тип, таймкод, описание и до трёх JPEG-кадров. Обоснование содержит нормативную ссылку. Схема на слайде иллюстрирует состав результата, это не скриншот отдельного детектирования.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принимает файл и сохраняет задачу в SQLite. Отдельные процессы выполняют анализ на CPU: NanoDet в ONNX Runtime, трекинг людей, анализ визуальных состояний и типизированные правила. Редкий проход выделяет кандидатные окна, плотный уточняет события. Evidence извлекается из исходного видео. Облачные AI API не используются; лица не идентифицируем и звук не анализируем. Публичный туннель даёт доступ к сервису, но не выполняет AI-инференс.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коде предусмотрены восемь основных типов и дополнительный уход во время обслуживания. Но мы разделяем наличие правила и измеренную работоспособность. Последний полный прогон подтверждает находки четырёх типов: ценности, экран, посторонний и дверь. Сейф, личные вещи и ручной пересчёт в этом прогоне пропущены полностью. Для телефона нет положительных примеров, поэтому оценивать его качество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Нормативная база включает акты Республики Казахстан: постановление НБРК 231 о кассовых операциях, НБРК 14 об устройстве и охране помещений и АРРФР 53 об информационной безопасности. Система берёт цитату и ссылку из фиксированного реестра. Важен и предел вывода: например, по видео нельзя установить полномочия вошедшего. Поэтому результат — признак для проверки, не юридический вердикт. Экран особенно спорен: норма об автоблокировке через 30 минут не доказывает нарушение при кратком уходе.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40 доступных размеченных видео система правильно определила 11 положительных и все 19 отрицательных. Десять положительных видео пропущены. Это 75 процентов правильных бинарных вердиктов, но полнота обнаружения только 52,4 процента. Ноль ложных тревог относится к этим 19 нормальным роликам, не ко всем будущим данным. Медианная ошибка таймкода 1,4 секунды, максимальная — 17. Это внутренний прогон на известном датасете, не независимая оценка жюри.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Продуктовый контур уже работает: интерфейс, API с ключом, очередь, таймауты и кадры. В последнем локальном прогоне анализ занимал от 4,45 до 36,94 секунды на видео, но это не включает сетевую загрузку и очередь. Для сдачи нужен сквозной публичный замер в пределах пяти минут. Развитие: сначала работа с пропущенными типами, затем оценка на невиденных ракурсах и обновление документации. Это планы, а не уже достигнутые показатели.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завершение предлагаем открыть сервис и загрузить MOV. Показать статус задачи, затем вердикт, таймкод, кадры и источник. Ключи доступа передаются жюри отдельно, в презентации их нет. Если сервис или туннель недоступны, не выдаём схему за живое демо. Главное сообщение: инженерный контур готов, качество измерено честно, следующий фокус — полнота и переносимость на другие ракурсы.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слайд. Метрики по типам считаются отдельно от бинарного вердикта. Две ошибочные классификации как ценности возникли на положительных видео с другими типами и не стали бинарными ложными тревогами. Событий 22, положительных видео 21: одно видео содержит два события. Телефон оценить нельзя: нет положительных примеров.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технический слайд. POST принимает multipart file и возвращает job_id. GET возвращает processing, done или failed. В готовом ответе только два вердикта, список событий и JPEG в base64. Название нормы и ссылка включены в description; расширенный details endpoint отдаёт структуру правила отдельно. Задача завершается по таймауту 280 секунд после приёма файла, включая очередь. Это защита от зависания, а не гарантия успешного анализа. Сохранённый тестовый отчёт — 139 пройденных тестов.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01 / ЛОКАЛЬНЫЙ AI-СЕРВИС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161288"/>
            <a:ext cx="10972800" cy="1121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8400"/>
              </a:lnSpc>
              <a:spcBef>
                <a:spcPts val="0"/>
              </a:spcBef>
              <a:spcAft>
                <a:spcPts val="0"/>
              </a:spcAft>
              <a:defRPr sz="7000" b="1">
                <a:solidFill>
                  <a:srgbClr val="F4F3EC"/>
                </a:solidFill>
                <a:latin typeface="Arial"/>
              </a:defRPr>
            </a:pPr>
            <a:r>
              <a:t>ForteVision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350008"/>
            <a:ext cx="9875520" cy="1121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4F3EC"/>
                </a:solidFill>
                <a:latin typeface="Arial"/>
              </a:defRPr>
            </a:pPr>
            <a:r>
              <a:t>От видеозаписи кассы</a:t>
            </a:r>
          </a:p>
          <a:p>
            <a:pPr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F4F3EC"/>
                </a:solidFill>
                <a:latin typeface="Arial"/>
              </a:defRPr>
            </a:pPr>
            <a:r>
              <a:t>к проверяемому событию.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04487"/>
            <a:ext cx="8321040" cy="755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A8B8C6"/>
                </a:solidFill>
                <a:latin typeface="Arial"/>
              </a:defRPr>
            </a:pPr>
            <a:r>
              <a:t>Таймкод. Кадр-доказательство. Норма РК.</a:t>
            </a:r>
          </a:p>
          <a:p>
            <a:pPr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A8B8C6"/>
                </a:solidFill>
                <a:latin typeface="Arial"/>
              </a:defRPr>
            </a:pPr>
            <a:r>
              <a:t>Окончательное решение — за человеком.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175504"/>
            <a:ext cx="10881360" cy="64008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349240"/>
            <a:ext cx="1046988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D2F280"/>
                </a:solidFill>
                <a:latin typeface="Arial"/>
              </a:defRPr>
            </a:pPr>
            <a:r>
              <a:t>ЛОКАЛЬНОЕ ВЫПОЛНЕНИЕ / ВЕБ-ИНТЕРФЕЙС / API ДЛЯ ЖЮРИ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02 / ЗАДАЧА БАНКА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Контролёру нужен фрагмент, а не весь ролик.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3538728" cy="283464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20240"/>
            <a:ext cx="41148" cy="2834640"/>
          </a:xfrm>
          <a:prstGeom prst="rect">
            <a:avLst/>
          </a:prstGeom>
          <a:solidFill>
            <a:srgbClr val="6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139696"/>
            <a:ext cx="3099816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AAFF"/>
                </a:solidFill>
                <a:latin typeface="Arial"/>
              </a:defRPr>
            </a:pPr>
            <a:r>
              <a:t>01 / НАЙТИ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514600"/>
            <a:ext cx="3099816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Что произошло?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154680"/>
            <a:ext cx="3099816" cy="1091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Выделить визуально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наблюдаемое действие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среди обычной работы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кассира.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920240"/>
            <a:ext cx="3538728" cy="283464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920240"/>
            <a:ext cx="41148" cy="2834640"/>
          </a:xfrm>
          <a:prstGeom prst="rect">
            <a:avLst/>
          </a:prstGeom>
          <a:solidFill>
            <a:srgbClr val="6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39696"/>
            <a:ext cx="3099816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AAFF"/>
                </a:solidFill>
                <a:latin typeface="Arial"/>
              </a:defRPr>
            </a:pPr>
            <a:r>
              <a:t>02 / ПРОВЕРИТЬ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514600"/>
            <a:ext cx="3099816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Где доказательство?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154680"/>
            <a:ext cx="3099816" cy="832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Открыть нужный момент и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сравнить вывод с кадрами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исходного видео.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4" y="1920240"/>
            <a:ext cx="3538728" cy="283464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5864" y="1920240"/>
            <a:ext cx="41148" cy="2834640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39696"/>
            <a:ext cx="3099816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2F280"/>
                </a:solidFill>
                <a:latin typeface="Arial"/>
              </a:defRPr>
            </a:pPr>
            <a:r>
              <a:t>03 / ОБОСНОВАТЬ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14600"/>
            <a:ext cx="3099816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Какое правило?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154680"/>
            <a:ext cx="3099816" cy="573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Увидеть источник, пункт и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ограничения интерпретации.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221224"/>
            <a:ext cx="10881360" cy="405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4F3EC"/>
                </a:solidFill>
                <a:latin typeface="Arial"/>
              </a:defRPr>
            </a:pPr>
            <a:r>
              <a:t>Ценность: меньше поиска — больше времени на проверку контекста.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03 / ПОЛЬЗОВАТЕЛЬСКИЙ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Загрузить → дождаться → проверить.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28800"/>
            <a:ext cx="3538728" cy="1024128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02536"/>
            <a:ext cx="3182112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Загрузка .mov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41448"/>
            <a:ext cx="3182112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6"/>
                </a:solidFill>
                <a:latin typeface="Arial"/>
              </a:defRPr>
            </a:pPr>
            <a:r>
              <a:t>Через браузер или API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828800"/>
            <a:ext cx="3538728" cy="1024128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002536"/>
            <a:ext cx="3182112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441448"/>
            <a:ext cx="3182112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6"/>
                </a:solidFill>
                <a:latin typeface="Arial"/>
              </a:defRPr>
            </a:pPr>
            <a:r>
              <a:t>Статус фоновой задачи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55864" y="1828800"/>
            <a:ext cx="3538728" cy="1024128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2002536"/>
            <a:ext cx="3182112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done / failed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441448"/>
            <a:ext cx="3182112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6"/>
                </a:solidFill>
                <a:latin typeface="Arial"/>
              </a:defRPr>
            </a:pPr>
            <a:r>
              <a:t>Результат или явная ошибка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182112"/>
            <a:ext cx="11000232" cy="2697480"/>
          </a:xfrm>
          <a:prstGeom prst="rect">
            <a:avLst/>
          </a:prstGeom>
          <a:solidFill>
            <a:srgbClr val="1B2834"/>
          </a:solidFill>
          <a:ln w="8890">
            <a:solidFill>
              <a:srgbClr val="35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419856"/>
            <a:ext cx="5029200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BAAFF"/>
                </a:solidFill>
                <a:latin typeface="Arial"/>
              </a:defRPr>
            </a:pPr>
            <a:r>
              <a:t>Карточка возможного нарушения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977639"/>
            <a:ext cx="5029200" cy="11597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3EC"/>
                </a:solidFill>
                <a:latin typeface="Arial"/>
              </a:defRPr>
            </a:pPr>
            <a:r>
              <a:t>Тип + таймкод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3EC"/>
                </a:solidFill>
                <a:latin typeface="Arial"/>
              </a:defRPr>
            </a:pPr>
            <a:r>
              <a:t>Наблюдаемое действие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4F3EC"/>
                </a:solidFill>
                <a:latin typeface="Arial"/>
              </a:defRPr>
            </a:pPr>
            <a:r>
              <a:t>Правило, источник и оговорки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886200"/>
            <a:ext cx="1417320" cy="1097280"/>
          </a:xfrm>
          <a:prstGeom prst="rect">
            <a:avLst/>
          </a:prstGeom>
          <a:solidFill>
            <a:srgbClr val="101820"/>
          </a:solidFill>
          <a:ln w="8890">
            <a:solidFill>
              <a:srgbClr val="35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0" y="4160520"/>
            <a:ext cx="1051560" cy="32004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4416552"/>
            <a:ext cx="640080" cy="32004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5166360"/>
            <a:ext cx="1508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8B8C6"/>
                </a:solidFill>
                <a:latin typeface="Arial"/>
              </a:defRPr>
            </a:pPr>
            <a:r>
              <a:t>Кадр до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1000" y="3886200"/>
            <a:ext cx="1417320" cy="1097280"/>
          </a:xfrm>
          <a:prstGeom prst="rect">
            <a:avLst/>
          </a:prstGeom>
          <a:solidFill>
            <a:srgbClr val="101820"/>
          </a:solidFill>
          <a:ln w="8890">
            <a:solidFill>
              <a:srgbClr val="35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4160520"/>
            <a:ext cx="1051560" cy="32004"/>
          </a:xfrm>
          <a:prstGeom prst="rect">
            <a:avLst/>
          </a:prstGeom>
          <a:solidFill>
            <a:srgbClr val="6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4416552"/>
            <a:ext cx="640080" cy="32004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5166360"/>
            <a:ext cx="1508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8B8C6"/>
                </a:solidFill>
                <a:latin typeface="Arial"/>
              </a:defRPr>
            </a:pPr>
            <a:r>
              <a:t>Момент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0" y="3886200"/>
            <a:ext cx="1417320" cy="1097280"/>
          </a:xfrm>
          <a:prstGeom prst="rect">
            <a:avLst/>
          </a:prstGeom>
          <a:solidFill>
            <a:srgbClr val="101820"/>
          </a:solidFill>
          <a:ln w="8890">
            <a:solidFill>
              <a:srgbClr val="354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4160520"/>
            <a:ext cx="1051560" cy="32004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784080" y="4416552"/>
            <a:ext cx="640080" cy="32004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5166360"/>
            <a:ext cx="15087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8B8C6"/>
                </a:solidFill>
                <a:latin typeface="Arial"/>
              </a:defRPr>
            </a:pPr>
            <a:r>
              <a:t>Кадр после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" y="5596128"/>
            <a:ext cx="548640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8B8C6"/>
                </a:solidFill>
                <a:latin typeface="Arial"/>
              </a:defRPr>
            </a:pPr>
            <a:r>
              <a:t>Схема результата • не фактический кейс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04 /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Весь анализ — внутри локального сервиса.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048256"/>
            <a:ext cx="2606040" cy="196596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31136"/>
            <a:ext cx="2240280" cy="298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2F28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70632"/>
            <a:ext cx="2240280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Приём видео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55848"/>
            <a:ext cx="224028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6"/>
                </a:solidFill>
                <a:latin typeface="Arial"/>
              </a:defRPr>
            </a:pPr>
            <a:r>
              <a:t>FastAPI + SQLite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2424" y="2048256"/>
            <a:ext cx="2606040" cy="196596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2231136"/>
            <a:ext cx="2240280" cy="298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2F28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5304" y="2770632"/>
            <a:ext cx="2240280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Зрение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3355848"/>
            <a:ext cx="224028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6"/>
                </a:solidFill>
                <a:latin typeface="Arial"/>
              </a:defRPr>
            </a:pPr>
            <a:r>
              <a:t>NanoDet + ONNX CPU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2048256"/>
            <a:ext cx="2606040" cy="196596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2231136"/>
            <a:ext cx="2240280" cy="298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2F28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770632"/>
            <a:ext cx="2240280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События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3355848"/>
            <a:ext cx="224028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6"/>
                </a:solidFill>
                <a:latin typeface="Arial"/>
              </a:defRPr>
            </a:pPr>
            <a:r>
              <a:t>Треки + состояния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8552" y="2048256"/>
            <a:ext cx="2606040" cy="196596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71432" y="2231136"/>
            <a:ext cx="2240280" cy="298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D2F28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770632"/>
            <a:ext cx="2240280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Правила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3355848"/>
            <a:ext cx="224028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6"/>
                </a:solidFill>
                <a:latin typeface="Arial"/>
              </a:defRPr>
            </a:pPr>
            <a:r>
              <a:t>Проверенный реестр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62272"/>
            <a:ext cx="10881360" cy="3749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2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6BAAFF"/>
                </a:solidFill>
                <a:latin typeface="Arial"/>
              </a:defRPr>
            </a:pPr>
            <a:r>
              <a:t>Редкий проход → кандидатные окна → плотная проверка → JSON + кадры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175504"/>
            <a:ext cx="10789920" cy="6035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8B8C6"/>
                </a:solidFill>
                <a:latin typeface="Arial"/>
              </a:defRPr>
            </a:pPr>
            <a:r>
              <a:t>Без облачных AI API. Без анализа звука. Без идентификации лиц.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8B8C6"/>
                </a:solidFill>
                <a:latin typeface="Arial"/>
              </a:defRPr>
            </a:pPr>
            <a:r>
              <a:t>После установки зависимостей и весов интернет для анализа не нужен.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05 / ОБНАРУЖИВАЕМЫЕ СОБЫТИЯ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Правило в коде ≠ доказанное качество.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21208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2F280"/>
                </a:solidFill>
                <a:latin typeface="Arial"/>
              </a:defRPr>
            </a:pPr>
            <a:r>
              <a:t>Есть находки в полном прогоне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07492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2BE75"/>
                </a:solidFill>
                <a:latin typeface="Arial"/>
              </a:defRPr>
            </a:pPr>
            <a:r>
              <a:t>Нужна доработка / оценка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82296" cy="8229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514600"/>
            <a:ext cx="5120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4F3EC"/>
                </a:solidFill>
                <a:latin typeface="Arial"/>
              </a:defRPr>
            </a:pPr>
            <a:r>
              <a:t>Ценности оставлены при уходе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606040"/>
            <a:ext cx="82296" cy="82296"/>
          </a:xfrm>
          <a:prstGeom prst="rect">
            <a:avLst/>
          </a:prstGeom>
          <a:solidFill>
            <a:srgbClr val="F2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47688" y="2514600"/>
            <a:ext cx="48920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8B8C6"/>
                </a:solidFill>
                <a:latin typeface="Arial"/>
              </a:defRPr>
            </a:pPr>
            <a:r>
              <a:t>Открытый сейф без присмотра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46120"/>
            <a:ext cx="82296" cy="8229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154680"/>
            <a:ext cx="5120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4F3EC"/>
                </a:solidFill>
                <a:latin typeface="Arial"/>
              </a:defRPr>
            </a:pPr>
            <a:r>
              <a:t>Уход без блокировки экрана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246120"/>
            <a:ext cx="82296" cy="82296"/>
          </a:xfrm>
          <a:prstGeom prst="rect">
            <a:avLst/>
          </a:prstGeom>
          <a:solidFill>
            <a:srgbClr val="F2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3154680"/>
            <a:ext cx="48920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8B8C6"/>
                </a:solidFill>
                <a:latin typeface="Arial"/>
              </a:defRPr>
            </a:pPr>
            <a:r>
              <a:t>Личные вещи / еда / напитки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82296" cy="8229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794760"/>
            <a:ext cx="5120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4F3EC"/>
                </a:solidFill>
                <a:latin typeface="Arial"/>
              </a:defRPr>
            </a:pPr>
            <a:r>
              <a:t>Вход человека в служебную зону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886200"/>
            <a:ext cx="82296" cy="82296"/>
          </a:xfrm>
          <a:prstGeom prst="rect">
            <a:avLst/>
          </a:prstGeom>
          <a:solidFill>
            <a:srgbClr val="F2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7688" y="3794760"/>
            <a:ext cx="48920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8B8C6"/>
                </a:solidFill>
                <a:latin typeface="Arial"/>
              </a:defRPr>
            </a:pPr>
            <a:r>
              <a:t>Ручной пересчёт наличных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526279"/>
            <a:ext cx="82296" cy="8229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434840"/>
            <a:ext cx="51206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4F3EC"/>
                </a:solidFill>
                <a:latin typeface="Arial"/>
              </a:defRPr>
            </a:pPr>
            <a:r>
              <a:t>Дверь оставлена открытой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526279"/>
            <a:ext cx="82296" cy="82296"/>
          </a:xfrm>
          <a:prstGeom prst="rect">
            <a:avLst/>
          </a:prstGeom>
          <a:solidFill>
            <a:srgbClr val="F2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7688" y="4434840"/>
            <a:ext cx="4892040" cy="329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A8B8C6"/>
                </a:solidFill>
                <a:latin typeface="Arial"/>
              </a:defRPr>
            </a:pPr>
            <a:r>
              <a:t>Использование телефона*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41848"/>
            <a:ext cx="10881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8B8C6"/>
                </a:solidFill>
                <a:latin typeface="Arial"/>
              </a:defRPr>
            </a:pPr>
            <a:r>
              <a:t>* Для телефона нет положительных примеров. Наличие находок не означает надёжность на новом ракурсе.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06 / ОБОСНОВАННОСТЬ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Ссылка на норму — из реестра, не из генерации.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920240"/>
            <a:ext cx="3538728" cy="256032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920240"/>
            <a:ext cx="41148" cy="2560320"/>
          </a:xfrm>
          <a:prstGeom prst="rect">
            <a:avLst/>
          </a:prstGeom>
          <a:solidFill>
            <a:srgbClr val="6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139696"/>
            <a:ext cx="3099816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AAFF"/>
                </a:solidFill>
                <a:latin typeface="Arial"/>
              </a:defRPr>
            </a:pPr>
            <a:r>
              <a:t>НАБЛЮДЕНИЕ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514600"/>
            <a:ext cx="3099816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Видимый факт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154680"/>
            <a:ext cx="3099816" cy="573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Человек пересёк вход и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прошёл в служебную зону.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5112" y="1920240"/>
            <a:ext cx="3538728" cy="256032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5112" y="1920240"/>
            <a:ext cx="41148" cy="2560320"/>
          </a:xfrm>
          <a:prstGeom prst="rect">
            <a:avLst/>
          </a:prstGeom>
          <a:solidFill>
            <a:srgbClr val="6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2139696"/>
            <a:ext cx="3099816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AAFF"/>
                </a:solidFill>
                <a:latin typeface="Arial"/>
              </a:defRPr>
            </a:pPr>
            <a:r>
              <a:t>ГИПОТЕЗА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514600"/>
            <a:ext cx="3099816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Возможный риск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3154680"/>
            <a:ext cx="3099816" cy="832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Может указывать на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нарушение режима изоляции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кассы.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55864" y="1920240"/>
            <a:ext cx="3538728" cy="256032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55864" y="1920240"/>
            <a:ext cx="41148" cy="2560320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139696"/>
            <a:ext cx="3099816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2F280"/>
                </a:solidFill>
                <a:latin typeface="Arial"/>
              </a:defRPr>
            </a:pPr>
            <a:r>
              <a:t>ОГРАНИЧЕНИЕ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514600"/>
            <a:ext cx="3099816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Не доказано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154680"/>
            <a:ext cx="3099816" cy="8321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Наличие или отсутствие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служебных полномочий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вошедшего.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846320"/>
            <a:ext cx="10881360" cy="4206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4F3EC"/>
                </a:solidFill>
                <a:latin typeface="Arial"/>
              </a:defRPr>
            </a:pPr>
            <a:r>
              <a:t>НБРК №231 / НБРК №14 / АРРФР №53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413248"/>
            <a:ext cx="10881360" cy="2987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A8B8C6"/>
                </a:solidFill>
                <a:latin typeface="Arial"/>
              </a:defRPr>
            </a:pPr>
            <a:r>
              <a:t>Документ + пункт + цитата + ссылка на adilet.zan.kz. Решение принимает проверяющий.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07 / РЕАЛЬНЫЕ РЕЗУЛЬТАТЫ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Находим 11 из 21 видео с нарушениями.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75104"/>
            <a:ext cx="3364992" cy="7863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6BAAFF"/>
                </a:solidFill>
                <a:latin typeface="Arial"/>
              </a:defRPr>
            </a:pPr>
            <a:r>
              <a:t>52,4%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3364992" cy="344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3EC"/>
                </a:solidFill>
                <a:latin typeface="Arial"/>
              </a:defRPr>
            </a:pPr>
            <a:r>
              <a:t>Полнота обнаружения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56432"/>
            <a:ext cx="3364992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8B8C6"/>
                </a:solidFill>
                <a:latin typeface="Arial"/>
              </a:defRPr>
            </a:pPr>
            <a:r>
              <a:t>11 из 21 положительного видео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3128" y="1975104"/>
            <a:ext cx="3364992" cy="7863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D2F280"/>
                </a:solidFill>
                <a:latin typeface="Arial"/>
              </a:defRPr>
            </a:pPr>
            <a:r>
              <a:t>0 / 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2926080"/>
            <a:ext cx="3364992" cy="344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3EC"/>
                </a:solidFill>
                <a:latin typeface="Arial"/>
              </a:defRPr>
            </a:pPr>
            <a:r>
              <a:t>Ложные тревоги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456432"/>
            <a:ext cx="3364992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8B8C6"/>
                </a:solidFill>
                <a:latin typeface="Arial"/>
              </a:defRPr>
            </a:pPr>
            <a:r>
              <a:t>На нормальных видео прогона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975104"/>
            <a:ext cx="3364992" cy="7863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4F3EC"/>
                </a:solidFill>
                <a:latin typeface="Arial"/>
              </a:defRPr>
            </a:pPr>
            <a:r>
              <a:t>1,4 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2926080"/>
            <a:ext cx="3364992" cy="344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4F3EC"/>
                </a:solidFill>
                <a:latin typeface="Arial"/>
              </a:defRPr>
            </a:pPr>
            <a:r>
              <a:t>Ошибка таймкода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3456432"/>
            <a:ext cx="3364992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8B8C6"/>
                </a:solidFill>
                <a:latin typeface="Arial"/>
              </a:defRPr>
            </a:pPr>
            <a:r>
              <a:t>Медиана; максимум — 17 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24528"/>
            <a:ext cx="10881360" cy="3596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4F3EC"/>
                </a:solidFill>
                <a:latin typeface="Arial"/>
              </a:defRPr>
            </a:pPr>
            <a:r>
              <a:t>40 видео: 21 с нарушением + 19 без нарушения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54880"/>
            <a:ext cx="2969514" cy="384048"/>
          </a:xfrm>
          <a:prstGeom prst="rect">
            <a:avLst/>
          </a:prstGeom>
          <a:solidFill>
            <a:srgbClr val="6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32454" y="4754880"/>
            <a:ext cx="2697480" cy="384048"/>
          </a:xfrm>
          <a:prstGeom prst="rect">
            <a:avLst/>
          </a:prstGeom>
          <a:solidFill>
            <a:srgbClr val="F2B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2794" y="4754880"/>
            <a:ext cx="5145786" cy="384048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30952"/>
            <a:ext cx="10881360" cy="3139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11 найдены / 10 пропущены / 19 верных отрицательных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43016"/>
            <a:ext cx="1088136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8B8C6"/>
                </a:solidFill>
                <a:latin typeface="Arial"/>
              </a:defRPr>
            </a:pPr>
            <a:r>
              <a:t>Известный датасет, не независимый тест. Источник: artifacts/task8/normal/metrics.json.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08 / ГОТОВНОСТЬ И РАЗВИТИЕ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Рабочий MVP. Следующий приоритет — пропуски.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892807"/>
            <a:ext cx="5349240" cy="356616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1892807"/>
            <a:ext cx="41148" cy="3566160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" y="2112263"/>
            <a:ext cx="4910327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2F280"/>
                </a:solidFill>
                <a:latin typeface="Arial"/>
              </a:defRPr>
            </a:pPr>
            <a:r>
              <a:t>УЖЕ ЕСТЬ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487168"/>
            <a:ext cx="4910327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Полный сервисный контур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127248"/>
            <a:ext cx="4910327" cy="1091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Веб-интерфейс + API с ключом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Фоновая обработка и watchdog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Реальные кадры из исходника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Локальный CPU-инференс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892807"/>
            <a:ext cx="5422392" cy="356616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892807"/>
            <a:ext cx="41148" cy="3566160"/>
          </a:xfrm>
          <a:prstGeom prst="rect">
            <a:avLst/>
          </a:prstGeom>
          <a:solidFill>
            <a:srgbClr val="6B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2112263"/>
            <a:ext cx="4983479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BAAFF"/>
                </a:solidFill>
                <a:latin typeface="Arial"/>
              </a:defRPr>
            </a:pPr>
            <a:r>
              <a:t>СЛЕДУЮЩИЙ ЭТАП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2487168"/>
            <a:ext cx="4983479" cy="390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F3EC"/>
                </a:solidFill>
                <a:latin typeface="Arial"/>
              </a:defRPr>
            </a:pPr>
            <a:r>
              <a:t>Улучшить зрение и проверку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3127248"/>
            <a:ext cx="4983479" cy="10911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1. Сейф, предметы, пересчёт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2. Новые ракурсы без подстройки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3. Публичный тест до 5 минут</a:t>
            </a:r>
          </a:p>
          <a:p>
            <a:pPr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A8B8C6"/>
                </a:solidFill>
                <a:latin typeface="Arial"/>
              </a:defRPr>
            </a:pPr>
            <a:r>
              <a:t>4. Актуальные документы сдачи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742432"/>
            <a:ext cx="10881360" cy="2529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A8B8C6"/>
                </a:solidFill>
                <a:latin typeface="Arial"/>
              </a:defRPr>
            </a:pPr>
            <a:r>
              <a:t>Локальный анализ: 4,45–36,94 с/видео. Без сетевой загрузки и ожидания очереди.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09 / ДЕМОНСТРАЦИЯ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Проверяемый сигнал вместо чёрного ящика.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84248"/>
            <a:ext cx="996696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Видео → событие → доказательство → норма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16936"/>
            <a:ext cx="9966960" cy="816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A8B8C6"/>
                </a:solidFill>
                <a:latin typeface="Arial"/>
              </a:defRPr>
            </a:pPr>
            <a:r>
              <a:t>Покажем загрузку, статус обработки</a:t>
            </a:r>
          </a:p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A8B8C6"/>
                </a:solidFill>
                <a:latin typeface="Arial"/>
              </a:defRPr>
            </a:pPr>
            <a:r>
              <a:t>и карточку найденного события.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97096"/>
            <a:ext cx="10881360" cy="1280160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4398264"/>
            <a:ext cx="103327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D2F280"/>
                </a:solidFill>
                <a:latin typeface="Arial"/>
              </a:defRPr>
            </a:pPr>
            <a:r>
              <a:t>ОТКРЫТЬ СЕРВИС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791456"/>
            <a:ext cx="10332720" cy="344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6BAAFF"/>
                </a:solidFill>
                <a:latin typeface="Arial"/>
              </a:defRPr>
            </a:pPr>
            <a:r>
              <a:t>https://craig-taxaceous-marylouise.ngrok-free.dev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79008"/>
            <a:ext cx="108813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8B8C6"/>
                </a:solidFill>
                <a:latin typeface="Arial"/>
              </a:defRPr>
            </a:pPr>
            <a:r>
              <a:t>Ключ доступа — отдельно. Доступность URL зависит от локального сервера и туннеля.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ПРИЛОЖЕНИЕ A / ДЛЯ ВОПРОСОВ ЖЮРИ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Точность по типам: где система уже полезна.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0512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AAFF"/>
                </a:solidFill>
                <a:latin typeface="Arial"/>
              </a:defRPr>
            </a:pPr>
            <a:r>
              <a:t>Тип события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10512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AAFF"/>
                </a:solidFill>
                <a:latin typeface="Arial"/>
              </a:defRPr>
            </a:pPr>
            <a:r>
              <a:t>Найдено / всего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10512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BAAFF"/>
                </a:solidFill>
                <a:latin typeface="Arial"/>
              </a:defRPr>
            </a:pPr>
            <a:r>
              <a:t>Ложные типы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94560"/>
            <a:ext cx="10881360" cy="384048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21992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Ценности при уходе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221992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2 /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221992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15184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Незаблокированный экран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615184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2 /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615184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980944"/>
            <a:ext cx="10881360" cy="384048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08376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Открытый сейф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008376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 /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008376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401568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Личные вещи / еда / напитки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401568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 /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01568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67328"/>
            <a:ext cx="10881360" cy="384048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794760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Посторонний в кассе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794760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4 / 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3794760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187952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Открытая дверь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187952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2 /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4187952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553712"/>
            <a:ext cx="10881360" cy="384048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4581144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Ручной пересчёт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581144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 /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581144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4974336"/>
            <a:ext cx="59436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Телефон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4974336"/>
            <a:ext cx="219456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нет примеров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4974336"/>
            <a:ext cx="1828800" cy="2834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4F3EC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751576"/>
            <a:ext cx="105156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A8B8C6"/>
                </a:solidFill>
                <a:latin typeface="Arial"/>
              </a:defRPr>
            </a:pPr>
            <a:r>
              <a:t>22 размеченных события в 21 положительном видео. Ложный тип ≠ ложный бинарный вердикт.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29768"/>
            <a:ext cx="91440" cy="128016"/>
          </a:xfrm>
          <a:prstGeom prst="rect">
            <a:avLst/>
          </a:prstGeom>
          <a:solidFill>
            <a:srgbClr val="D2F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393192"/>
            <a:ext cx="10789920" cy="2225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8B8C6"/>
                </a:solidFill>
                <a:latin typeface="Arial"/>
              </a:defRPr>
            </a:pPr>
            <a:r>
              <a:t>ПРИЛОЖЕНИЕ B / ИНТЕГРАЦИЯ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05256"/>
            <a:ext cx="11018520" cy="542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4F3EC"/>
                </a:solidFill>
                <a:latin typeface="Arial"/>
              </a:defRPr>
            </a:pPr>
            <a:r>
              <a:t>Контракт API соответствует кейсу.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391656"/>
            <a:ext cx="11000232" cy="10972"/>
          </a:xfrm>
          <a:prstGeom prst="rect">
            <a:avLst/>
          </a:prstGeom>
          <a:solidFill>
            <a:srgbClr val="354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966960" cy="1844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  <a:defRPr sz="850" b="0">
                <a:solidFill>
                  <a:srgbClr val="A8B8C6"/>
                </a:solidFill>
                <a:latin typeface="Arial"/>
              </a:defRPr>
            </a:pPr>
            <a:r>
              <a:t>FORTEVISION / FORTEBANK DATATHON 26 / ОКТЯБРЬ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82528" y="6492240"/>
            <a:ext cx="548640" cy="2072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8B8C6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01952"/>
            <a:ext cx="10881360" cy="4206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AAFF"/>
                </a:solidFill>
                <a:latin typeface="Arial"/>
              </a:defRPr>
            </a:pPr>
            <a:r>
              <a:t>POST /api/v1/analyze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414016"/>
            <a:ext cx="10881360" cy="344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8B8C6"/>
                </a:solidFill>
                <a:latin typeface="Arial"/>
              </a:defRPr>
            </a:pPr>
            <a:r>
              <a:t>X-API-Key + multipart file (.mov) → job_id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980944"/>
            <a:ext cx="10881360" cy="4206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BAAFF"/>
                </a:solidFill>
                <a:latin typeface="Arial"/>
              </a:defRPr>
            </a:pPr>
            <a:r>
              <a:t>GET /api/v1/jobs/{job_id}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02152"/>
            <a:ext cx="10881360" cy="3444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8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A8B8C6"/>
                </a:solidFill>
                <a:latin typeface="Arial"/>
              </a:defRPr>
            </a:pPr>
            <a:r>
              <a:t>processing → done / failed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4142232"/>
            <a:ext cx="10863072" cy="1060704"/>
          </a:xfrm>
          <a:prstGeom prst="rect">
            <a:avLst/>
          </a:prstGeom>
          <a:solidFill>
            <a:srgbClr val="1B2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325112"/>
            <a:ext cx="10332720" cy="6035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4F3EC"/>
                </a:solidFill>
                <a:latin typeface="Arial"/>
              </a:defRPr>
            </a:pPr>
            <a:r>
              <a:t>verdict • violations[] • type • timecode_sec</a:t>
            </a:r>
          </a:p>
          <a:p>
            <a:pPr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4F3EC"/>
                </a:solidFill>
                <a:latin typeface="Arial"/>
              </a:defRPr>
            </a:pPr>
            <a:r>
              <a:t>description • evidence_frames[]: timestamp_sec + image_base64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522976"/>
            <a:ext cx="10881360" cy="48158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8B8C6"/>
                </a:solidFill>
                <a:latin typeface="Arial"/>
              </a:defRPr>
            </a:pPr>
            <a:r>
              <a:t>До 100 MiB • watchdog 280 с после приёма • неверный ключ: 401</a:t>
            </a:r>
          </a:p>
          <a:p>
            <a:pPr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A8B8C6"/>
                </a:solidFill>
                <a:latin typeface="Arial"/>
              </a:defRPr>
            </a:pPr>
            <a:r>
              <a:t>139 passed в сохранённом отчёте тестов; это не метрика качества распознавания.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ForteVision — локальный AI-контроль кассовой дисциплины</dc:title>
  <dc:subject>ForteBank · Datathon 26 · питч на 5 минут</dc:subject>
  <dc:creator>ForteVision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